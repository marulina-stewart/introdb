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58" r:id="rId1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171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800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18ED89-8B91-4FA1-ADFB-5F03FF966813}" type="slidenum">
              <a:rPr lang="ru-RU"/>
              <a:pPr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0143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12888" y="2205038"/>
            <a:ext cx="7162800" cy="1109662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12888" y="3092450"/>
            <a:ext cx="7162800" cy="696913"/>
          </a:xfrm>
        </p:spPr>
        <p:txBody>
          <a:bodyPr/>
          <a:lstStyle>
            <a:lvl1pPr marL="0" indent="0" algn="r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547813" y="1412875"/>
            <a:ext cx="36322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332413" y="1412875"/>
            <a:ext cx="36322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10413" y="400050"/>
            <a:ext cx="1854200" cy="62690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47813" y="400050"/>
            <a:ext cx="5410200" cy="62690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36738" y="400050"/>
            <a:ext cx="7127875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47813" y="1412875"/>
            <a:ext cx="74168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Click to edit Master text styles</a:t>
            </a:r>
          </a:p>
          <a:p>
            <a:pPr lvl="1"/>
            <a:r>
              <a:rPr lang="ru-RU" smtClean="0"/>
              <a:t>Second level</a:t>
            </a:r>
          </a:p>
          <a:p>
            <a:pPr lvl="2"/>
            <a:r>
              <a:rPr lang="ru-RU" smtClean="0"/>
              <a:t>Third level</a:t>
            </a:r>
          </a:p>
          <a:p>
            <a:pPr lvl="3"/>
            <a:r>
              <a:rPr lang="ru-RU" smtClean="0"/>
              <a:t>Fourth level</a:t>
            </a:r>
          </a:p>
          <a:p>
            <a:pPr lvl="4"/>
            <a:r>
              <a:rPr lang="ru-RU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2pPr>
      <a:lvl3pPr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3pPr>
      <a:lvl4pPr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4pPr>
      <a:lvl5pPr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b-engines.com/en/system/MySQL%3BPostgreSQL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https://db-engines.com/en/article/RDBMS" TargetMode="External"/><Relationship Id="rId5" Type="http://schemas.openxmlformats.org/officeDocument/2006/relationships/hyperlink" Target="https://db-engines.com/en/system/Microsoft+SQL+Server%3BMySQL" TargetMode="External"/><Relationship Id="rId4" Type="http://schemas.openxmlformats.org/officeDocument/2006/relationships/hyperlink" Target="https://db-engines.com/en/system/Microsoft+SQL+Server%3BPostgreSQ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352800" y="2492375"/>
            <a:ext cx="5251450" cy="822325"/>
          </a:xfrm>
          <a:noFill/>
        </p:spPr>
        <p:txBody>
          <a:bodyPr/>
          <a:lstStyle/>
          <a:p>
            <a:r>
              <a:rPr lang="fr-FR" sz="2800" dirty="0" smtClean="0">
                <a:solidFill>
                  <a:schemeClr val="tx1"/>
                </a:solidFill>
              </a:rPr>
              <a:t>Introduction </a:t>
            </a:r>
            <a:r>
              <a:rPr lang="fr-FR" sz="2800" dirty="0" err="1" smtClean="0">
                <a:solidFill>
                  <a:schemeClr val="tx1"/>
                </a:solidFill>
              </a:rPr>
              <a:t>DataBase</a:t>
            </a:r>
            <a:endParaRPr lang="uk-UA" sz="2800" dirty="0">
              <a:latin typeface="Tahoma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52800" y="3213100"/>
            <a:ext cx="5251450" cy="431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fr-FR" dirty="0" smtClean="0"/>
              <a:t>Marwa FERCHICHI</a:t>
            </a:r>
            <a:endParaRPr lang="uk-U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>
                <a:ea typeface="+mj-lt"/>
                <a:cs typeface="+mj-lt"/>
              </a:rPr>
              <a:t>RDBMS </a:t>
            </a:r>
            <a:r>
              <a:rPr lang="fr-FR" sz="3200" dirty="0" err="1" smtClean="0">
                <a:ea typeface="+mj-lt"/>
                <a:cs typeface="+mj-lt"/>
              </a:rPr>
              <a:t>Definition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2204864"/>
            <a:ext cx="6769100" cy="417688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18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Relational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Management System (</a:t>
            </a:r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RDBMS):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the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most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popular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type of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Management System (DBMS) in 2020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since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the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most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management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systems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are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relational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like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	</a:t>
            </a:r>
            <a:r>
              <a:rPr lang="fr-FR" sz="1800" b="1" i="1" dirty="0" smtClean="0">
                <a:solidFill>
                  <a:srgbClr val="FFC00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Oracle</a:t>
            </a:r>
            <a:r>
              <a:rPr lang="fr-FR" sz="1800" b="1" i="1" dirty="0">
                <a:solidFill>
                  <a:srgbClr val="FFC00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MySQL, PostgreSQL and SQL </a:t>
            </a:r>
            <a:r>
              <a:rPr lang="fr-FR" sz="1800" b="1" i="1" dirty="0" smtClean="0">
                <a:solidFill>
                  <a:srgbClr val="FFC00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SERVER</a:t>
            </a:r>
            <a:endParaRPr lang="fr-FR" sz="1800" b="1" i="1" dirty="0">
              <a:solidFill>
                <a:srgbClr val="FFC000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 RDBMS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particular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type of DBMS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that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uses a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relational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model for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 An RDBMS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therefore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enables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to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create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relational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 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fr-FR" sz="1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 smtClean="0">
                <a:ea typeface="+mj-lt"/>
                <a:cs typeface="+mj-lt"/>
              </a:rPr>
              <a:t>MySQL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2204864"/>
            <a:ext cx="6769100" cy="41768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MySQL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one of the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most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popular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open source SQL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 It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was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developed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by a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Swedish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company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– MySQL AB.</a:t>
            </a:r>
          </a:p>
          <a:p>
            <a:pPr>
              <a:lnSpc>
                <a:spcPct val="150000"/>
              </a:lnSpc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It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typically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for web application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development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and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often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accessed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using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PHP.</a:t>
            </a:r>
          </a:p>
          <a:p>
            <a:pPr>
              <a:lnSpc>
                <a:spcPct val="150000"/>
              </a:lnSpc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 main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advantages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of MySQL are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that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easy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to use,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inexpensive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reliable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(has been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around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since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1995), and has a large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community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of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developers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who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can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help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answer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questions</a:t>
            </a:r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fr-FR" sz="1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xmlns="" id="{F86933BF-A0F4-4D41-8FFD-481C23CB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503" y="5301208"/>
            <a:ext cx="2496214" cy="142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3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 smtClean="0">
                <a:ea typeface="+mj-lt"/>
                <a:cs typeface="+mj-lt"/>
              </a:rPr>
              <a:t>MySQL </a:t>
            </a:r>
            <a:r>
              <a:rPr lang="fr-FR" sz="3200" dirty="0" err="1">
                <a:ea typeface="+mj-lt"/>
                <a:cs typeface="+mj-lt"/>
              </a:rPr>
              <a:t>Functionalities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412776"/>
            <a:ext cx="8785101" cy="52565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Management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Ease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It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pretty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easy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to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download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and use the software.</a:t>
            </a:r>
          </a:p>
          <a:p>
            <a:pPr>
              <a:lnSpc>
                <a:spcPct val="150000"/>
              </a:lnSpc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High performance : It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provides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fast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loading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utilities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different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memory cache.</a:t>
            </a:r>
          </a:p>
          <a:p>
            <a:pPr>
              <a:lnSpc>
                <a:spcPct val="150000"/>
              </a:lnSpc>
            </a:pP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Scalability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and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adaptability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 It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really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easy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to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create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data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warehouses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including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an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enormous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amount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of data.</a:t>
            </a:r>
          </a:p>
          <a:p>
            <a:pPr>
              <a:lnSpc>
                <a:spcPct val="150000"/>
              </a:lnSpc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Compatibility : MySQL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compatible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all modern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platforms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like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Windows, Linux, Unix.</a:t>
            </a:r>
          </a:p>
          <a:p>
            <a:pPr>
              <a:lnSpc>
                <a:spcPct val="150000"/>
              </a:lnSpc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Performance : MySQL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gives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you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high performance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results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without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losing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essential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functionality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Complete Data Security :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Only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the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authorized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users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can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access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the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 Complete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security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for the data.</a:t>
            </a:r>
          </a:p>
          <a:p>
            <a:pPr>
              <a:lnSpc>
                <a:spcPct val="150000"/>
              </a:lnSpc>
            </a:pP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Lowest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Total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price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of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ownership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Memory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Efficiency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: MySQL has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low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memory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leakage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xmlns="" id="{F86933BF-A0F4-4D41-8FFD-481C23CB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5246888"/>
            <a:ext cx="2496214" cy="142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61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>
                <a:ea typeface="+mj-lt"/>
                <a:cs typeface="+mj-lt"/>
              </a:rPr>
              <a:t>PostgreSQL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916832"/>
            <a:ext cx="7920880" cy="3456384"/>
          </a:xfrm>
        </p:spPr>
        <p:txBody>
          <a:bodyPr/>
          <a:lstStyle/>
          <a:p>
            <a:pPr algn="just"/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POSTGRESQL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an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advanced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enterprise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class open source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relational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that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supports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both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 SQL and JSON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querying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 </a:t>
            </a: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algn="just"/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highly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stable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management system,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backed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by </a:t>
            </a:r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more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than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20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years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of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community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development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which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has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contributed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to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high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levels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of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resilience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integrity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and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correctness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 </a:t>
            </a: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algn="just"/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PostgreSQL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used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as the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primary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data store or data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warehouse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for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many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web, mobile,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geospatial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and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analytics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applications. The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latest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major version 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PostgreSQL 12.</a:t>
            </a:r>
            <a:endParaRPr lang="fr-FR" sz="1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xmlns="" id="{8EA63310-62D9-497B-A392-CB9E80EC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460" y="5085184"/>
            <a:ext cx="1477994" cy="162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 smtClean="0">
                <a:ea typeface="+mj-lt"/>
                <a:cs typeface="+mj-lt"/>
              </a:rPr>
              <a:t>PostgreSQL </a:t>
            </a:r>
            <a:r>
              <a:rPr lang="fr-FR" sz="3200" dirty="0" err="1">
                <a:ea typeface="+mj-lt"/>
                <a:cs typeface="+mj-lt"/>
              </a:rPr>
              <a:t>Functionalities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856984" cy="504056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Free: Free To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download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compatibe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on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several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operation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systems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compatible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various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programming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languages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Compatible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Data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Integrity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Primary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Keys, UNIQUE, NOT NULL,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Foreign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Keys, Explicit Locks,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Advisory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Locks, Exclusion </a:t>
            </a:r>
            <a:r>
              <a:rPr lang="fr-FR" sz="165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Constraints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Supports multiple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Indexing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such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as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Multicolumn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Partial, B-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tree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and expressions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Supports transactions,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Nested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Transactions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through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Save points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Just-in-time compilation of expressions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Table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partitioning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Secure: It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safe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because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follows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several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security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aspects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0"/>
              </a:spcBef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supports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different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types of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Replication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like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Synchronous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Asynchronous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and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Logical</a:t>
            </a:r>
            <a:r>
              <a:rPr lang="fr-FR" sz="165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>
              <a:spcBef>
                <a:spcPts val="0"/>
              </a:spcBef>
            </a:pP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PostgreSQL supports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Column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and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row-level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65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security</a:t>
            </a:r>
            <a:r>
              <a:rPr lang="fr-FR" sz="165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fr-FR" sz="165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xmlns="" id="{8EA63310-62D9-497B-A392-CB9E80EC5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3861048"/>
            <a:ext cx="1477994" cy="162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0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>
                <a:ea typeface="+mj-lt"/>
                <a:cs typeface="+mj-lt"/>
              </a:rPr>
              <a:t>SQL Server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2204864"/>
            <a:ext cx="6769100" cy="4176886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fr-FR" sz="18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Its</a:t>
            </a:r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primary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query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languages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are :</a:t>
            </a:r>
          </a:p>
          <a:p>
            <a:pPr marL="0" lvl="3" indent="0">
              <a:spcBef>
                <a:spcPts val="0"/>
              </a:spcBef>
              <a:buNone/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			</a:t>
            </a: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lvl="3" indent="0">
              <a:spcBef>
                <a:spcPts val="0"/>
              </a:spcBef>
              <a:buNone/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	</a:t>
            </a:r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T-SQL</a:t>
            </a:r>
            <a:endParaRPr lang="fr-FR" sz="1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lvl="3" indent="0">
              <a:spcBef>
                <a:spcPts val="0"/>
              </a:spcBef>
              <a:buNone/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			</a:t>
            </a:r>
            <a:endParaRPr lang="fr-FR" sz="18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lvl="3" indent="0">
              <a:spcBef>
                <a:spcPts val="0"/>
              </a:spcBef>
              <a:buNone/>
            </a:pP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	</a:t>
            </a:r>
            <a:r>
              <a:rPr lang="fr-FR" sz="18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ANSI </a:t>
            </a:r>
            <a:r>
              <a:rPr lang="fr-FR" sz="18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SQL</a:t>
            </a:r>
            <a:endParaRPr lang="fr-FR" sz="1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lèche droite 1"/>
          <p:cNvSpPr/>
          <p:nvPr/>
        </p:nvSpPr>
        <p:spPr>
          <a:xfrm>
            <a:off x="1763713" y="3177146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 droite 4"/>
          <p:cNvSpPr/>
          <p:nvPr/>
        </p:nvSpPr>
        <p:spPr>
          <a:xfrm>
            <a:off x="1763713" y="3717032"/>
            <a:ext cx="360040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2">
            <a:extLst>
              <a:ext uri="{FF2B5EF4-FFF2-40B4-BE49-F238E27FC236}">
                <a16:creationId xmlns:a16="http://schemas.microsoft.com/office/drawing/2014/main" xmlns="" id="{6EEBC0BC-F69A-4468-9016-E28C75C0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413" y="4890880"/>
            <a:ext cx="2743200" cy="14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6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713" y="331788"/>
            <a:ext cx="7200900" cy="649287"/>
          </a:xfrm>
        </p:spPr>
        <p:txBody>
          <a:bodyPr/>
          <a:lstStyle/>
          <a:p>
            <a:pPr algn="ctr"/>
            <a:r>
              <a:rPr lang="fr-FR" sz="3200" dirty="0" smtClean="0">
                <a:ea typeface="+mj-lt"/>
                <a:cs typeface="+mj-lt"/>
              </a:rPr>
              <a:t>PostgreSQL </a:t>
            </a:r>
            <a:r>
              <a:rPr lang="fr-FR" sz="3200" dirty="0" err="1">
                <a:ea typeface="+mj-lt"/>
                <a:cs typeface="+mj-lt"/>
              </a:rPr>
              <a:t>Functionalities</a:t>
            </a:r>
            <a:endParaRPr lang="uk-UA" sz="3200" dirty="0">
              <a:latin typeface="Tahoma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856984" cy="5040560"/>
          </a:xfrm>
        </p:spPr>
        <p:txBody>
          <a:bodyPr/>
          <a:lstStyle/>
          <a:p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Better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security</a:t>
            </a:r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fr-FR" sz="1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Always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Encrypted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Row-Level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Security, and 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Dynamic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data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masking</a:t>
            </a:r>
            <a:r>
              <a:rPr lang="fr-FR" sz="14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endParaRPr lang="fr-FR" sz="1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Higher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availability</a:t>
            </a:r>
            <a:endParaRPr lang="fr-FR" sz="1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Including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AlwaysOn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Availability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Groups, Cloud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Witness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Storage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Spaces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Direct,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Workgroup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clusters.</a:t>
            </a: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Improved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engine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TempDB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enhancements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Query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Store, Stretch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More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analytics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Tabular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enhancements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R </a:t>
            </a:r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integration</a:t>
            </a:r>
            <a:r>
              <a:rPr lang="fr-FR" sz="1400" dirty="0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fr-FR" sz="1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Various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improvements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to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reporting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endParaRPr lang="fr-FR" sz="1400" dirty="0" smtClean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fr-FR" sz="1400" dirty="0" err="1" smtClean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Search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custom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branding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optimization</a:t>
            </a:r>
            <a:r>
              <a:rPr lang="fr-FR" sz="1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for modern browsers, mobile, </a:t>
            </a:r>
            <a:r>
              <a:rPr lang="fr-FR" sz="14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etc</a:t>
            </a:r>
            <a:endParaRPr lang="fr-FR" sz="1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4" name="Image 2">
            <a:extLst>
              <a:ext uri="{FF2B5EF4-FFF2-40B4-BE49-F238E27FC236}">
                <a16:creationId xmlns:a16="http://schemas.microsoft.com/office/drawing/2014/main" xmlns="" id="{6EEBC0BC-F69A-4468-9016-E28C75C07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4221088"/>
            <a:ext cx="2743200" cy="149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8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86175" y="314668"/>
            <a:ext cx="7200900" cy="649287"/>
          </a:xfrm>
        </p:spPr>
        <p:txBody>
          <a:bodyPr/>
          <a:lstStyle/>
          <a:p>
            <a:pPr algn="ctr"/>
            <a:r>
              <a:rPr lang="fr-FR" sz="3200" dirty="0" smtClean="0">
                <a:ea typeface="+mj-lt"/>
                <a:cs typeface="+mj-lt"/>
              </a:rPr>
              <a:t>PostgreSQL </a:t>
            </a:r>
            <a:r>
              <a:rPr lang="fr-FR" sz="3200" dirty="0" err="1">
                <a:ea typeface="+mj-lt"/>
                <a:cs typeface="+mj-lt"/>
              </a:rPr>
              <a:t>Functionalities</a:t>
            </a:r>
            <a:endParaRPr lang="uk-UA" sz="3200" dirty="0">
              <a:latin typeface="Tahoma" charset="0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567557"/>
              </p:ext>
            </p:extLst>
          </p:nvPr>
        </p:nvGraphicFramePr>
        <p:xfrm>
          <a:off x="164759" y="1340768"/>
          <a:ext cx="8812212" cy="5424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0496"/>
                <a:gridCol w="2690949"/>
                <a:gridCol w="2140723"/>
                <a:gridCol w="2390044"/>
              </a:tblGrid>
              <a:tr h="11383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>
                          <a:effectLst/>
                        </a:rPr>
                        <a:t>Name</a:t>
                      </a:r>
                      <a:endParaRPr lang="fr-FR" sz="105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sng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hlinkClick r:id="rId3"/>
                        </a:rPr>
                        <a:t>Microsoft SQL Server  X</a:t>
                      </a:r>
                      <a:endParaRPr lang="fr-FR" sz="1000" b="0" i="0" u="sng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sng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hlinkClick r:id="rId4"/>
                        </a:rPr>
                        <a:t>MySQL  X</a:t>
                      </a:r>
                      <a:endParaRPr lang="fr-FR" sz="1000" b="0" i="0" u="sng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sng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hlinkClick r:id="rId5"/>
                        </a:rPr>
                        <a:t>PostgreSQL  X</a:t>
                      </a:r>
                      <a:endParaRPr lang="fr-FR" sz="1000" b="0" i="0" u="sng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6191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>
                          <a:effectLst/>
                        </a:rPr>
                        <a:t>Description</a:t>
                      </a:r>
                      <a:endParaRPr lang="fr-FR" sz="105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Microsofts relational DBMS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sng" strike="noStrike" dirty="0">
                          <a:effectLst/>
                          <a:hlinkClick r:id="rId6"/>
                        </a:rPr>
                        <a:t>Widely used open source RDBMS</a:t>
                      </a:r>
                      <a:endParaRPr lang="en-US" sz="7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sng" strike="noStrike" dirty="0">
                          <a:effectLst/>
                          <a:hlinkClick r:id="rId6"/>
                        </a:rPr>
                        <a:t>Widely used open source RDBMS </a:t>
                      </a:r>
                      <a:endParaRPr lang="en-US" sz="700" b="0" i="0" u="sng" strike="noStrike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</a:tr>
              <a:tr h="261918">
                <a:tc>
                  <a:txBody>
                    <a:bodyPr/>
                    <a:lstStyle/>
                    <a:p>
                      <a:pPr algn="ctr" fontAlgn="b"/>
                      <a:r>
                        <a:rPr lang="fr-FR" sz="1050" b="1" u="none" strike="noStrike">
                          <a:effectLst/>
                        </a:rPr>
                        <a:t>Developer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Microsoft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Oracle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PostgreSQL Global Development Group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691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>
                          <a:effectLst/>
                        </a:rPr>
                        <a:t>Initial release</a:t>
                      </a:r>
                      <a:endParaRPr lang="fr-FR" sz="105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1989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1995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1989 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26191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>
                          <a:effectLst/>
                        </a:rPr>
                        <a:t>Current release</a:t>
                      </a:r>
                      <a:endParaRPr lang="fr-FR" sz="105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SQL Server 2019, November 2019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5.7.32 , October 2020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13.1, November 2020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691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>
                          <a:effectLst/>
                        </a:rPr>
                        <a:t>License </a:t>
                      </a:r>
                      <a:endParaRPr lang="fr-FR" sz="105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commercial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Open Source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Open Source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25001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 dirty="0" err="1">
                          <a:effectLst/>
                        </a:rPr>
                        <a:t>Implementation</a:t>
                      </a:r>
                      <a:r>
                        <a:rPr lang="fr-FR" sz="1050" b="1" u="none" strike="noStrike" dirty="0">
                          <a:effectLst/>
                        </a:rPr>
                        <a:t> </a:t>
                      </a:r>
                      <a:r>
                        <a:rPr lang="fr-FR" sz="1050" b="1" u="none" strike="noStrike" dirty="0" err="1">
                          <a:effectLst/>
                        </a:rPr>
                        <a:t>language</a:t>
                      </a:r>
                      <a:endParaRPr lang="fr-FR" sz="105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C++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 and C++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 dirty="0">
                          <a:effectLst/>
                        </a:rPr>
                        <a:t>Server operating </a:t>
                      </a:r>
                      <a:r>
                        <a:rPr lang="fr-FR" sz="1050" b="1" u="none" strike="noStrike" dirty="0" err="1">
                          <a:effectLst/>
                        </a:rPr>
                        <a:t>systems</a:t>
                      </a:r>
                      <a:endParaRPr lang="fr-FR" sz="105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Linux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FreeBSD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FreeBSD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Windows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Linux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HP-UX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OS 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Linux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Solaris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NetBSD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Windows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OpenBSD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OS 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Solaris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Unix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691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Windows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6912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>
                          <a:effectLst/>
                        </a:rPr>
                        <a:t>SQL </a:t>
                      </a:r>
                      <a:endParaRPr lang="fr-FR" sz="1050" b="1" i="0" u="none" strike="noStrike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yes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yes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yes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rowSpan="19">
                  <a:txBody>
                    <a:bodyPr/>
                    <a:lstStyle/>
                    <a:p>
                      <a:pPr algn="ctr" fontAlgn="ctr"/>
                      <a:r>
                        <a:rPr lang="fr-FR" sz="1050" b="1" u="none" strike="noStrike" dirty="0" err="1">
                          <a:effectLst/>
                        </a:rPr>
                        <a:t>Supported</a:t>
                      </a:r>
                      <a:r>
                        <a:rPr lang="fr-FR" sz="1050" b="1" u="none" strike="noStrike" dirty="0">
                          <a:effectLst/>
                        </a:rPr>
                        <a:t> </a:t>
                      </a:r>
                      <a:r>
                        <a:rPr lang="fr-FR" sz="1050" b="1" u="none" strike="noStrike" dirty="0" err="1">
                          <a:effectLst/>
                        </a:rPr>
                        <a:t>programming</a:t>
                      </a:r>
                      <a:r>
                        <a:rPr lang="fr-FR" sz="1050" b="1" u="none" strike="noStrike" dirty="0">
                          <a:effectLst/>
                        </a:rPr>
                        <a:t> </a:t>
                      </a:r>
                      <a:r>
                        <a:rPr lang="fr-FR" sz="1050" b="1" u="none" strike="noStrike" dirty="0" err="1">
                          <a:effectLst/>
                        </a:rPr>
                        <a:t>languages</a:t>
                      </a:r>
                      <a:endParaRPr lang="fr-FR" sz="1050" b="1" i="0" u="none" strike="noStrike" dirty="0">
                        <a:solidFill>
                          <a:srgbClr val="222222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C#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Ada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.Net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C++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Delphi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C#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C++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Go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C++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Delphi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Java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D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Java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JavaScript (Node.js)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Delphi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PHP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Eiffel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JavaScript (Node.js)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Python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Erlang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Perl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R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Haskell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PHP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Ruby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Java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Python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Visual Basic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JavaScript (Node.js)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Tcl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Objective-C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OCaml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Perl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PHP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Python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Ruby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095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Scheme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  <a:tr h="13691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>
                          <a:effectLst/>
                        </a:rPr>
                        <a:t> </a:t>
                      </a:r>
                      <a:endParaRPr lang="fr-FR" sz="800" b="0" i="0" u="none" strike="noStrike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 err="1">
                          <a:effectLst/>
                        </a:rPr>
                        <a:t>Tcl</a:t>
                      </a:r>
                      <a:endParaRPr lang="fr-FR" sz="800" b="0" i="0" u="none" strike="noStrike" dirty="0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800" u="none" strike="noStrike" dirty="0">
                          <a:effectLst/>
                        </a:rPr>
                        <a:t> </a:t>
                      </a:r>
                      <a:endParaRPr lang="fr-FR" sz="800" b="0" i="0" u="none" strike="noStrike" dirty="0">
                        <a:solidFill>
                          <a:srgbClr val="222222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55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052736"/>
            <a:ext cx="7208411" cy="49904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1">
      <a:dk1>
        <a:srgbClr val="4D4D4D"/>
      </a:dk1>
      <a:lt1>
        <a:srgbClr val="FFFFFF"/>
      </a:lt1>
      <a:dk2>
        <a:srgbClr val="000000"/>
      </a:dk2>
      <a:lt2>
        <a:srgbClr val="BB5B0D"/>
      </a:lt2>
      <a:accent1>
        <a:srgbClr val="B61111"/>
      </a:accent1>
      <a:accent2>
        <a:srgbClr val="DE9200"/>
      </a:accent2>
      <a:accent3>
        <a:srgbClr val="FFFFFF"/>
      </a:accent3>
      <a:accent4>
        <a:srgbClr val="404040"/>
      </a:accent4>
      <a:accent5>
        <a:srgbClr val="D7AAAA"/>
      </a:accent5>
      <a:accent6>
        <a:srgbClr val="C98400"/>
      </a:accent6>
      <a:hlink>
        <a:srgbClr val="F9D328"/>
      </a:hlink>
      <a:folHlink>
        <a:srgbClr val="EAEAEA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FF6600"/>
        </a:lt2>
        <a:accent1>
          <a:srgbClr val="FF9966"/>
        </a:accent1>
        <a:accent2>
          <a:srgbClr val="800000"/>
        </a:accent2>
        <a:accent3>
          <a:srgbClr val="FFFFFF"/>
        </a:accent3>
        <a:accent4>
          <a:srgbClr val="404040"/>
        </a:accent4>
        <a:accent5>
          <a:srgbClr val="FFCAB8"/>
        </a:accent5>
        <a:accent6>
          <a:srgbClr val="730000"/>
        </a:accent6>
        <a:hlink>
          <a:srgbClr val="FFCC6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CC6600"/>
        </a:lt2>
        <a:accent1>
          <a:srgbClr val="FF6600"/>
        </a:accent1>
        <a:accent2>
          <a:srgbClr val="800000"/>
        </a:accent2>
        <a:accent3>
          <a:srgbClr val="FFFFFF"/>
        </a:accent3>
        <a:accent4>
          <a:srgbClr val="404040"/>
        </a:accent4>
        <a:accent5>
          <a:srgbClr val="FFB8AA"/>
        </a:accent5>
        <a:accent6>
          <a:srgbClr val="730000"/>
        </a:accent6>
        <a:hlink>
          <a:srgbClr val="FFCC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111111"/>
        </a:dk1>
        <a:lt1>
          <a:srgbClr val="FFFFFF"/>
        </a:lt1>
        <a:dk2>
          <a:srgbClr val="000000"/>
        </a:dk2>
        <a:lt2>
          <a:srgbClr val="FF6600"/>
        </a:lt2>
        <a:accent1>
          <a:srgbClr val="FF8001"/>
        </a:accent1>
        <a:accent2>
          <a:srgbClr val="D31908"/>
        </a:accent2>
        <a:accent3>
          <a:srgbClr val="FFFFFF"/>
        </a:accent3>
        <a:accent4>
          <a:srgbClr val="0D0D0D"/>
        </a:accent4>
        <a:accent5>
          <a:srgbClr val="FFC0AA"/>
        </a:accent5>
        <a:accent6>
          <a:srgbClr val="BF1606"/>
        </a:accent6>
        <a:hlink>
          <a:srgbClr val="FFCC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C14C00"/>
        </a:lt2>
        <a:accent1>
          <a:srgbClr val="F1D509"/>
        </a:accent1>
        <a:accent2>
          <a:srgbClr val="E38D04"/>
        </a:accent2>
        <a:accent3>
          <a:srgbClr val="FFFFFF"/>
        </a:accent3>
        <a:accent4>
          <a:srgbClr val="404040"/>
        </a:accent4>
        <a:accent5>
          <a:srgbClr val="F7E7AA"/>
        </a:accent5>
        <a:accent6>
          <a:srgbClr val="CE7F03"/>
        </a:accent6>
        <a:hlink>
          <a:srgbClr val="E5E3E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BC2D00"/>
        </a:lt2>
        <a:accent1>
          <a:srgbClr val="8F9702"/>
        </a:accent1>
        <a:accent2>
          <a:srgbClr val="FB9503"/>
        </a:accent2>
        <a:accent3>
          <a:srgbClr val="FFFFFF"/>
        </a:accent3>
        <a:accent4>
          <a:srgbClr val="404040"/>
        </a:accent4>
        <a:accent5>
          <a:srgbClr val="C6C9AA"/>
        </a:accent5>
        <a:accent6>
          <a:srgbClr val="E38702"/>
        </a:accent6>
        <a:hlink>
          <a:srgbClr val="6B700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2B00"/>
        </a:lt2>
        <a:accent1>
          <a:srgbClr val="F98305"/>
        </a:accent1>
        <a:accent2>
          <a:srgbClr val="FAA407"/>
        </a:accent2>
        <a:accent3>
          <a:srgbClr val="FFFFFF"/>
        </a:accent3>
        <a:accent4>
          <a:srgbClr val="404040"/>
        </a:accent4>
        <a:accent5>
          <a:srgbClr val="FBC1AA"/>
        </a:accent5>
        <a:accent6>
          <a:srgbClr val="E39406"/>
        </a:accent6>
        <a:hlink>
          <a:srgbClr val="F56B0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BB5B0D"/>
        </a:lt2>
        <a:accent1>
          <a:srgbClr val="B61111"/>
        </a:accent1>
        <a:accent2>
          <a:srgbClr val="DE9200"/>
        </a:accent2>
        <a:accent3>
          <a:srgbClr val="FFFFFF"/>
        </a:accent3>
        <a:accent4>
          <a:srgbClr val="404040"/>
        </a:accent4>
        <a:accent5>
          <a:srgbClr val="D7AAAA"/>
        </a:accent5>
        <a:accent6>
          <a:srgbClr val="C98400"/>
        </a:accent6>
        <a:hlink>
          <a:srgbClr val="F9D328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192</Words>
  <Application>Microsoft Office PowerPoint</Application>
  <PresentationFormat>Affichage à l'écran (4:3)</PresentationFormat>
  <Paragraphs>189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Tahoma</vt:lpstr>
      <vt:lpstr>Verdana</vt:lpstr>
      <vt:lpstr>template</vt:lpstr>
      <vt:lpstr>Introduction DataBase</vt:lpstr>
      <vt:lpstr>RDBMS Definition</vt:lpstr>
      <vt:lpstr>MySQL</vt:lpstr>
      <vt:lpstr>MySQL Functionalities</vt:lpstr>
      <vt:lpstr>PostgreSQL</vt:lpstr>
      <vt:lpstr>PostgreSQL Functionalities</vt:lpstr>
      <vt:lpstr>SQL Server</vt:lpstr>
      <vt:lpstr>PostgreSQL Functionalities</vt:lpstr>
      <vt:lpstr>PostgreSQL Functionalities</vt:lpstr>
      <vt:lpstr>Présentation PowerPoint</vt:lpstr>
    </vt:vector>
  </TitlesOfParts>
  <Company>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Marwa Ferchichi</cp:lastModifiedBy>
  <cp:revision>52</cp:revision>
  <dcterms:created xsi:type="dcterms:W3CDTF">2006-06-29T12:15:01Z</dcterms:created>
  <dcterms:modified xsi:type="dcterms:W3CDTF">2021-01-23T19:11:42Z</dcterms:modified>
</cp:coreProperties>
</file>